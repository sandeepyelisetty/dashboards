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2" r:id="rId3"/>
    <p:sldId id="258" r:id="rId4"/>
    <p:sldId id="260" r:id="rId5"/>
    <p:sldId id="263" r:id="rId6"/>
    <p:sldId id="256" r:id="rId7"/>
    <p:sldId id="259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986CB6-D830-4CDC-A675-D3E6E0B37C2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CCBF3-0118-4BE8-AB62-9A18670AB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253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DDA01-3CFE-C810-BBB0-3A221A5F7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C21A8-01E4-8674-4B82-E3FCB9F0F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D8D24-1062-F0D4-57E0-3375D426A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077A-3272-4D2A-AB90-90393CD9412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2F05A-BA90-9B4C-274A-E6B1092B7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88D14-E9BC-F873-25A4-A84D0A7C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2A4D-290C-4218-825D-2AA7913C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021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8D931-8C26-893D-10CB-E1C09AEC9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36700-76A2-1247-4D84-DF6E3350C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14305-825D-FC66-0BE3-9B3E517E1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077A-3272-4D2A-AB90-90393CD9412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8032D-78B2-425F-372E-1D39AED8D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8AB7C-24C4-7FB8-E08A-0B73B900D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2A4D-290C-4218-825D-2AA7913C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960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7E1F2-86E3-257A-1A4B-D941161E1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080D6-3BE3-A512-D663-8D126F443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AC2D4-0F09-E5B4-1F0B-1F267084A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077A-3272-4D2A-AB90-90393CD9412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196D6-592E-5E8E-3E30-0B93D452F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DD4D5-E652-B25F-B50F-187A01BB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2A4D-290C-4218-825D-2AA7913C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451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6F914-D6D7-C545-759A-D67D8D039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CA84A-A3F2-F19F-4CA1-0D686DD2A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C990F-BDCF-B612-148A-8D9D66D3E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6603D-5944-3428-B686-5F82E0A8B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077A-3272-4D2A-AB90-90393CD9412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AA80A-A01D-F7E3-4AD3-2CD942CCC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13170-798E-1E27-A942-E6087E72E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2A4D-290C-4218-825D-2AA7913C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36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C1AE6-5C11-D427-DEA1-054B47214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A58C6-577E-9F34-C983-0243A6270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C1451-A1BA-53E3-FE58-22A8C652A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2D89BE-245E-07BF-2D76-7A1C325D9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1C5D5D-BAF3-1F51-B126-BBA983024F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1E9A5E-87F1-29B1-3ECA-6E14EE2FC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077A-3272-4D2A-AB90-90393CD9412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B045B-B08B-0183-4314-240D4903D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8B6A5-2601-FC48-FBB5-1E020D4CD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2A4D-290C-4218-825D-2AA7913C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881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CE1AE-6EF2-50F0-801C-2A31912AB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68169-A46F-5977-778A-F30C6BA28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077A-3272-4D2A-AB90-90393CD9412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1E5DCE-C1C1-AD4A-9C5A-52F628BA7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9F248-BB64-9B67-FF63-619D8941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2A4D-290C-4218-825D-2AA7913C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574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76A6C-3C89-93BC-1FB5-A95B7213D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077A-3272-4D2A-AB90-90393CD9412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586787-2F62-142E-84E0-3D80E3B5A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D45DC-DF11-B3A7-92B4-320A57B6D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2A4D-290C-4218-825D-2AA7913C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384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E2A76-41A5-445D-AF51-BAC86B8EB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C6D90-893F-7E19-AB3C-442F53CE4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F215A-B5C5-3DA3-2924-8983CEF9A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39623-D3B8-F4BB-3811-0E18B5EF5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077A-3272-4D2A-AB90-90393CD9412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E4921-FC2E-9451-4F63-914D1AE34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7E611-E5C2-8CD8-7811-2B50E238C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2A4D-290C-4218-825D-2AA7913C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220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4E464-445D-2229-5B03-F60149807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BBF3B1-4767-F6B5-79A0-8EB8107D0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C5ED7-1F47-3761-2D4C-D1D112DC9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2FDB9-D8C7-AEF5-FE09-43AA92A81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077A-3272-4D2A-AB90-90393CD9412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A136A-8453-F377-9D1B-96F20992A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D7E7-E9AB-36BD-58B8-7F4955580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2A4D-290C-4218-825D-2AA7913C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989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B491E-BC34-95C6-4B05-88E28281D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BCF30-38DC-BEDD-E8C7-03FB1CD44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F7923-3556-4215-F066-073A40A56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077A-3272-4D2A-AB90-90393CD9412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1C482-483C-D2BC-5E43-412FA3FB4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982B3-E09D-C959-24E0-B60FA0C2C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2A4D-290C-4218-825D-2AA7913C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77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3C3C35-5CA2-0CA1-9551-74134FE6C9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11E37-C00B-5586-3304-E89162CAB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D6CE6-886A-1A68-948F-7016E45B4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077A-3272-4D2A-AB90-90393CD9412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CC006-AC72-19FD-12BF-84F4907C3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B55A9-3160-FFDB-20EC-596B6C05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2A4D-290C-4218-825D-2AA7913C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704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8F5323-D9BA-0575-4128-C4B1AD5FB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A40E8-251E-4166-F6EF-59B1385DE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FEEDD-7DF2-1F5E-33D9-4C9B7B3B1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E2077A-3272-4D2A-AB90-90393CD9412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A3E05-007A-34BB-19D7-E169196A7D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AECE0-A3D3-86DC-D9DA-5FC6589812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012A4D-290C-4218-825D-2AA7913C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245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mailto:user2@gmail.com" TargetMode="External"/><Relationship Id="rId3" Type="http://schemas.openxmlformats.org/officeDocument/2006/relationships/hyperlink" Target="mailto:abc@gmail.com" TargetMode="External"/><Relationship Id="rId7" Type="http://schemas.openxmlformats.org/officeDocument/2006/relationships/hyperlink" Target="mailto:user1@gmail.com" TargetMode="External"/><Relationship Id="rId2" Type="http://schemas.openxmlformats.org/officeDocument/2006/relationships/hyperlink" Target="mailto:xyz@gmail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test@gmail.com" TargetMode="External"/><Relationship Id="rId5" Type="http://schemas.openxmlformats.org/officeDocument/2006/relationships/hyperlink" Target="mailto:hello@gmail.com" TargetMode="External"/><Relationship Id="rId4" Type="http://schemas.openxmlformats.org/officeDocument/2006/relationships/hyperlink" Target="mailto:cde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7881B5-8AFA-BB9D-81A0-F80DB50D51CF}"/>
              </a:ext>
            </a:extLst>
          </p:cNvPr>
          <p:cNvSpPr txBox="1"/>
          <p:nvPr/>
        </p:nvSpPr>
        <p:spPr>
          <a:xfrm>
            <a:off x="1524003" y="1999615"/>
            <a:ext cx="9144000" cy="2764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Contact Center Data Analysis - </a:t>
            </a:r>
            <a:r>
              <a:rPr lang="en-US" sz="4800" dirty="0"/>
              <a:t>Tableau Dashboard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2870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415450-164E-0C36-83CD-2F1AD8DE703A}"/>
              </a:ext>
            </a:extLst>
          </p:cNvPr>
          <p:cNvSpPr txBox="1"/>
          <p:nvPr/>
        </p:nvSpPr>
        <p:spPr>
          <a:xfrm>
            <a:off x="838200" y="1419224"/>
            <a:ext cx="10086975" cy="4675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u="sng" dirty="0">
                <a:latin typeface="Arial" panose="020B0604020202020204" pitchFamily="34" charset="0"/>
              </a:rPr>
              <a:t>About Dataset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The dataset represents </a:t>
            </a:r>
            <a:r>
              <a:rPr lang="en-US" altLang="en-US" sz="1400" b="1" dirty="0">
                <a:latin typeface="Arial" panose="020B0604020202020204" pitchFamily="34" charset="0"/>
              </a:rPr>
              <a:t>healthcare contact center operations</a:t>
            </a:r>
            <a:r>
              <a:rPr lang="en-US" altLang="en-US" sz="1400" dirty="0">
                <a:latin typeface="Arial" panose="020B0604020202020204" pitchFamily="34" charset="0"/>
              </a:rPr>
              <a:t>, capturing call-level interactions related to </a:t>
            </a:r>
            <a:r>
              <a:rPr lang="en-US" altLang="en-US" sz="1400" b="1" dirty="0">
                <a:latin typeface="Arial" panose="020B0604020202020204" pitchFamily="34" charset="0"/>
              </a:rPr>
              <a:t>claims, enrollment, benefits, prior authorization, billing, and system access</a:t>
            </a:r>
            <a:r>
              <a:rPr lang="en-US" altLang="en-US" sz="14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 It includes </a:t>
            </a:r>
            <a:r>
              <a:rPr lang="en-US" altLang="en-US" sz="1400" b="1" dirty="0">
                <a:latin typeface="Arial" panose="020B0604020202020204" pitchFamily="34" charset="0"/>
              </a:rPr>
              <a:t>operational, quality, and performance metrics</a:t>
            </a:r>
            <a:r>
              <a:rPr lang="en-US" altLang="en-US" sz="1400" dirty="0">
                <a:latin typeface="Arial" panose="020B0604020202020204" pitchFamily="34" charset="0"/>
              </a:rPr>
              <a:t> such as wait time, handle time, SLA targets, call outcomes, first call resolution, escalation, and abandonment.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 The data spans </a:t>
            </a:r>
            <a:r>
              <a:rPr lang="en-US" altLang="en-US" sz="1400" b="1" dirty="0">
                <a:latin typeface="Arial" panose="020B0604020202020204" pitchFamily="34" charset="0"/>
              </a:rPr>
              <a:t>multiple months</a:t>
            </a:r>
            <a:r>
              <a:rPr lang="en-US" altLang="en-US" sz="1400" dirty="0">
                <a:latin typeface="Arial" panose="020B0604020202020204" pitchFamily="34" charset="0"/>
              </a:rPr>
              <a:t>, enabling </a:t>
            </a:r>
            <a:r>
              <a:rPr lang="en-US" altLang="en-US" sz="1400" b="1" dirty="0">
                <a:latin typeface="Arial" panose="020B0604020202020204" pitchFamily="34" charset="0"/>
              </a:rPr>
              <a:t>trend analysis, peak-hour identification, and operational planning</a:t>
            </a:r>
            <a:r>
              <a:rPr lang="en-US" altLang="en-US" sz="14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 Calls are segmented by </a:t>
            </a:r>
            <a:r>
              <a:rPr lang="en-US" altLang="en-US" sz="1400" b="1" dirty="0">
                <a:latin typeface="Arial" panose="020B0604020202020204" pitchFamily="34" charset="0"/>
              </a:rPr>
              <a:t>queue, call reason, member type, and channel</a:t>
            </a:r>
            <a:r>
              <a:rPr lang="en-US" altLang="en-US" sz="1400" dirty="0">
                <a:latin typeface="Arial" panose="020B0604020202020204" pitchFamily="34" charset="0"/>
              </a:rPr>
              <a:t>, allowing targeted analysis across different business functions.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 The dataset is designed to mirror </a:t>
            </a:r>
            <a:r>
              <a:rPr lang="en-US" altLang="en-US" sz="1400" b="1" dirty="0">
                <a:latin typeface="Arial" panose="020B0604020202020204" pitchFamily="34" charset="0"/>
              </a:rPr>
              <a:t>real-world healthcare contact center systems</a:t>
            </a:r>
            <a:r>
              <a:rPr lang="en-US" altLang="en-US" sz="1400" dirty="0">
                <a:latin typeface="Arial" panose="020B0604020202020204" pitchFamily="34" charset="0"/>
              </a:rPr>
              <a:t> while   remaining </a:t>
            </a:r>
            <a:r>
              <a:rPr lang="en-US" altLang="en-US" sz="1400" b="1" dirty="0">
                <a:latin typeface="Arial" panose="020B0604020202020204" pitchFamily="34" charset="0"/>
              </a:rPr>
              <a:t>HIPAA-safe and non-identifiable</a:t>
            </a:r>
            <a:r>
              <a:rPr lang="en-US" altLang="en-US" sz="1400" dirty="0">
                <a:latin typeface="Arial" panose="020B0604020202020204" pitchFamily="34" charset="0"/>
              </a:rPr>
              <a:t>.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014495-59B3-23C5-77F8-6F428952CCFB}"/>
              </a:ext>
            </a:extLst>
          </p:cNvPr>
          <p:cNvSpPr txBox="1"/>
          <p:nvPr/>
        </p:nvSpPr>
        <p:spPr>
          <a:xfrm>
            <a:off x="742950" y="557510"/>
            <a:ext cx="100869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 can a healthcare organization ensure timely access to support, maintain service quality, and proactively identify operational issues in its contact center?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6000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D88EAF-E673-89D7-00B5-BC41A0ECB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 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7FB33B-CF70-F897-C3A5-494A7DBE6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532" y="2576036"/>
            <a:ext cx="9677400" cy="35204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72301C-124C-2731-4131-265D507EAB92}"/>
              </a:ext>
            </a:extLst>
          </p:cNvPr>
          <p:cNvSpPr txBox="1"/>
          <p:nvPr/>
        </p:nvSpPr>
        <p:spPr>
          <a:xfrm>
            <a:off x="464166" y="1566671"/>
            <a:ext cx="2888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SELECT *</a:t>
            </a:r>
          </a:p>
          <a:p>
            <a:r>
              <a:rPr lang="en-US" sz="1000" dirty="0"/>
              <a:t>FROM </a:t>
            </a:r>
            <a:r>
              <a:rPr lang="en-US" sz="1000" dirty="0" err="1"/>
              <a:t>contact_center_ops</a:t>
            </a:r>
            <a:endParaRPr lang="en-US" sz="1000" dirty="0"/>
          </a:p>
          <a:p>
            <a:r>
              <a:rPr lang="en-US" sz="1000" dirty="0"/>
              <a:t>LIMIT 50;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02C019-69E9-7743-E446-051DD98E35C6}"/>
              </a:ext>
            </a:extLst>
          </p:cNvPr>
          <p:cNvSpPr txBox="1"/>
          <p:nvPr/>
        </p:nvSpPr>
        <p:spPr>
          <a:xfrm>
            <a:off x="4371975" y="1562206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import pandas as pd</a:t>
            </a:r>
          </a:p>
          <a:p>
            <a:endParaRPr lang="en-IN" sz="1000" dirty="0"/>
          </a:p>
          <a:p>
            <a:r>
              <a:rPr lang="en-IN" sz="1000" dirty="0" err="1"/>
              <a:t>df</a:t>
            </a:r>
            <a:r>
              <a:rPr lang="en-IN" sz="1000" dirty="0"/>
              <a:t> = </a:t>
            </a:r>
            <a:r>
              <a:rPr lang="en-IN" sz="1000" dirty="0" err="1"/>
              <a:t>pd.read_csv</a:t>
            </a:r>
            <a:r>
              <a:rPr lang="en-IN" sz="1000" dirty="0"/>
              <a:t>("contact_center_ops_enhanced.csv")</a:t>
            </a:r>
          </a:p>
        </p:txBody>
      </p:sp>
    </p:spTree>
    <p:extLst>
      <p:ext uri="{BB962C8B-B14F-4D97-AF65-F5344CB8AC3E}">
        <p14:creationId xmlns:p14="http://schemas.microsoft.com/office/powerpoint/2010/main" val="2552700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500B4A4-B1F1-41EA-886A-B8A210DBC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55A99C-0BDC-4DBE-8E40-9FA66F6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B7ED7D0-9863-302F-55CE-767D27B20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1785" y="891540"/>
            <a:ext cx="6398878" cy="50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229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500B4A4-B1F1-41EA-886A-B8A210DBC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55A99C-0BDC-4DBE-8E40-9FA66F6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9E45EB-AA18-3101-4778-AAC091F45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845" y="891540"/>
            <a:ext cx="6358759" cy="50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910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D6D4C0-DBC4-34F7-0EC7-462B1206CF74}"/>
              </a:ext>
            </a:extLst>
          </p:cNvPr>
          <p:cNvSpPr txBox="1"/>
          <p:nvPr/>
        </p:nvSpPr>
        <p:spPr>
          <a:xfrm>
            <a:off x="685800" y="251668"/>
            <a:ext cx="11115675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Link to Dashboard</a:t>
            </a:r>
          </a:p>
          <a:p>
            <a:endParaRPr lang="en-US" b="1" u="sng" dirty="0"/>
          </a:p>
          <a:p>
            <a:r>
              <a:rPr lang="en-US" dirty="0"/>
              <a:t>https://public.tableau.com/views/ContactCenterPerformance_17688507181890/Dashboard1?:language=en-US&amp;:sid=&amp;:redirect=auth&amp;:display_count=n&amp;:origin=viz_share_link</a:t>
            </a:r>
          </a:p>
          <a:p>
            <a:endParaRPr lang="en-US" b="1" u="sng" dirty="0"/>
          </a:p>
          <a:p>
            <a:r>
              <a:rPr lang="en-US" b="1" u="sng" dirty="0"/>
              <a:t>Data Dictionary</a:t>
            </a:r>
          </a:p>
          <a:p>
            <a:endParaRPr lang="en-US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time a member waits before their call is answered. This is a core access-to-care KPI.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	Average Speed of Answer (ASA) = AVG([</a:t>
            </a:r>
            <a:r>
              <a:rPr lang="en-US" dirty="0" err="1"/>
              <a:t>wait_time_sec</a:t>
            </a:r>
            <a:r>
              <a:rPr lang="en-US" dirty="0"/>
              <a:t>])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SLA Met Flag = </a:t>
            </a:r>
            <a:r>
              <a:rPr lang="en-US" dirty="0"/>
              <a:t>IF [</a:t>
            </a:r>
            <a:r>
              <a:rPr lang="en-US" dirty="0" err="1"/>
              <a:t>wait_time_sec</a:t>
            </a:r>
            <a:r>
              <a:rPr lang="en-US" dirty="0"/>
              <a:t>] &lt;= [</a:t>
            </a:r>
            <a:r>
              <a:rPr lang="en-US" dirty="0" err="1"/>
              <a:t>sla_target_sec</a:t>
            </a:r>
            <a:r>
              <a:rPr lang="en-US" dirty="0"/>
              <a:t>] THEN 1 ELSE 0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SLA Compliance % = AVG([SLA Met Flag])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lvl="1"/>
            <a:r>
              <a:rPr lang="en-US" dirty="0"/>
              <a:t>This measures the percentage of calls answered within the defined SLA threshold, which directly reflects service quality and operational performance.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First Call Resolution (FCR 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US" dirty="0"/>
              <a:t>	FCR measures how effectively member issues are resolved on the first contact, which is a key quality 	and efficiency indicator.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8099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D03B1-E69A-AF04-552D-07D2F3590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1476"/>
            <a:ext cx="10515600" cy="5805488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IN" sz="1800" dirty="0"/>
              <a:t>FCR Flag</a:t>
            </a:r>
            <a:r>
              <a:rPr lang="en-US" sz="1800" dirty="0"/>
              <a:t>= IF [</a:t>
            </a:r>
            <a:r>
              <a:rPr lang="en-US" sz="1800" dirty="0" err="1"/>
              <a:t>first_call_resolution</a:t>
            </a:r>
            <a:r>
              <a:rPr lang="en-US" sz="1800" dirty="0"/>
              <a:t>] = "Yes" THEN 1 ELSE 0 END</a:t>
            </a:r>
          </a:p>
          <a:p>
            <a:pPr marL="285750" indent="-285750"/>
            <a:r>
              <a:rPr lang="en-IN" sz="1800" dirty="0"/>
              <a:t>FCR %= </a:t>
            </a:r>
            <a:r>
              <a:rPr lang="en-US" sz="1800" dirty="0"/>
              <a:t>AVG([FCR Flag])</a:t>
            </a:r>
          </a:p>
          <a:p>
            <a:pPr marL="285750" indent="-285750"/>
            <a:endParaRPr lang="en-US" sz="1800" dirty="0"/>
          </a:p>
          <a:p>
            <a:pPr marL="285750" indent="-285750"/>
            <a:r>
              <a:rPr lang="en-IN" sz="1800" dirty="0"/>
              <a:t>Abandonment Flag = </a:t>
            </a:r>
            <a:r>
              <a:rPr lang="en-US" sz="1800" dirty="0"/>
              <a:t>IF [</a:t>
            </a:r>
            <a:r>
              <a:rPr lang="en-US" sz="1800" dirty="0" err="1"/>
              <a:t>call_outcome</a:t>
            </a:r>
            <a:r>
              <a:rPr lang="en-US" sz="1800" dirty="0"/>
              <a:t>] = "Abandoned" THEN 1 ELSE 0 END</a:t>
            </a:r>
          </a:p>
          <a:p>
            <a:pPr marL="457200" lvl="1" indent="0">
              <a:buNone/>
            </a:pPr>
            <a:endParaRPr lang="en-US" sz="1400" dirty="0"/>
          </a:p>
          <a:p>
            <a:pPr marL="285750" indent="-285750"/>
            <a:r>
              <a:rPr lang="en-IN" sz="1800" dirty="0"/>
              <a:t>Abandonment Rate % = AVG([Abandonment Flag])</a:t>
            </a:r>
          </a:p>
          <a:p>
            <a:pPr marL="742950" lvl="1" indent="-285750"/>
            <a:r>
              <a:rPr lang="en-US" sz="1400" dirty="0"/>
              <a:t>Abandonment Rate is the percentage of calls where members hang up before their call is answered by an agent.</a:t>
            </a:r>
          </a:p>
          <a:p>
            <a:pPr marL="285750" indent="-285750"/>
            <a:endParaRPr lang="en-US" sz="1800" dirty="0"/>
          </a:p>
          <a:p>
            <a:pPr marL="285750" indent="-285750"/>
            <a:r>
              <a:rPr lang="en-IN" sz="1800" dirty="0"/>
              <a:t>Escalation Rate % = </a:t>
            </a:r>
            <a:r>
              <a:rPr lang="en-US" sz="1800" dirty="0"/>
              <a:t>AVG([</a:t>
            </a:r>
            <a:r>
              <a:rPr lang="en-US" sz="1800" dirty="0" err="1"/>
              <a:t>escalated_flag</a:t>
            </a:r>
            <a:r>
              <a:rPr lang="en-US" sz="1800" dirty="0"/>
              <a:t>])</a:t>
            </a:r>
          </a:p>
          <a:p>
            <a:pPr marL="742950" lvl="1" indent="-285750"/>
            <a:r>
              <a:rPr lang="en-US" sz="1400" dirty="0"/>
              <a:t>Escalation Rate measures the percentage of calls that could not be resolved by the first-level agent and required additional support.</a:t>
            </a:r>
          </a:p>
          <a:p>
            <a:pPr marL="742950" lvl="1" indent="-285750"/>
            <a:endParaRPr lang="en-US" sz="1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7111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DE10F-1725-6C30-DCB6-94C5293E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1200"/>
          </a:xfrm>
        </p:spPr>
        <p:txBody>
          <a:bodyPr/>
          <a:lstStyle/>
          <a:p>
            <a:r>
              <a:rPr lang="en-US" dirty="0"/>
              <a:t>Point of Contact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0BA4F-04E9-727D-B72E-7E8EA8699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1575"/>
            <a:ext cx="10515600" cy="5005388"/>
          </a:xfrm>
        </p:spPr>
        <p:txBody>
          <a:bodyPr/>
          <a:lstStyle/>
          <a:p>
            <a:r>
              <a:rPr lang="en-US" sz="1800" dirty="0"/>
              <a:t>Data Engineering Team – </a:t>
            </a:r>
            <a:r>
              <a:rPr lang="en-US" sz="1800" dirty="0">
                <a:hlinkClick r:id="rId2"/>
              </a:rPr>
              <a:t>xyz@gmail.com</a:t>
            </a:r>
            <a:endParaRPr lang="en-US" sz="1800" dirty="0"/>
          </a:p>
          <a:p>
            <a:r>
              <a:rPr lang="en-US" sz="1800" dirty="0"/>
              <a:t>Business Team – </a:t>
            </a:r>
            <a:r>
              <a:rPr lang="en-US" sz="1800" dirty="0">
                <a:hlinkClick r:id="rId3"/>
              </a:rPr>
              <a:t>abc@gmail.com</a:t>
            </a:r>
            <a:endParaRPr lang="en-US" sz="1800" dirty="0"/>
          </a:p>
          <a:p>
            <a:r>
              <a:rPr lang="en-US" sz="1800" dirty="0"/>
              <a:t>Prod support/issues – </a:t>
            </a:r>
            <a:r>
              <a:rPr lang="en-US" sz="1800" dirty="0">
                <a:hlinkClick r:id="rId4"/>
              </a:rPr>
              <a:t>cde@gmail.com</a:t>
            </a:r>
            <a:endParaRPr lang="en-US" sz="1800" dirty="0"/>
          </a:p>
          <a:p>
            <a:r>
              <a:rPr lang="en-US" sz="1800" dirty="0"/>
              <a:t>BI Team – </a:t>
            </a:r>
            <a:r>
              <a:rPr lang="en-US" sz="1800" dirty="0">
                <a:hlinkClick r:id="rId5"/>
              </a:rPr>
              <a:t>hello@gmail.com</a:t>
            </a:r>
            <a:endParaRPr lang="en-US" sz="1800" dirty="0"/>
          </a:p>
          <a:p>
            <a:r>
              <a:rPr lang="en-US" sz="1800" dirty="0"/>
              <a:t>Testing Team – </a:t>
            </a:r>
            <a:r>
              <a:rPr lang="en-US" sz="1800" dirty="0">
                <a:hlinkClick r:id="rId6"/>
              </a:rPr>
              <a:t>test@gmail.com</a:t>
            </a:r>
            <a:endParaRPr lang="en-US" sz="1800" dirty="0"/>
          </a:p>
          <a:p>
            <a:r>
              <a:rPr lang="en-US" sz="1800" dirty="0"/>
              <a:t>Users – </a:t>
            </a:r>
            <a:r>
              <a:rPr lang="en-US" sz="1800" dirty="0">
                <a:hlinkClick r:id="rId7"/>
              </a:rPr>
              <a:t>user1@gmail.com</a:t>
            </a:r>
            <a:r>
              <a:rPr lang="en-US" sz="1800" dirty="0"/>
              <a:t>, </a:t>
            </a:r>
            <a:r>
              <a:rPr lang="en-US" sz="1800" dirty="0">
                <a:hlinkClick r:id="rId8"/>
              </a:rPr>
              <a:t>user2@gmail.com</a:t>
            </a:r>
            <a:endParaRPr lang="en-US" sz="1800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4842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522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Data Set</vt:lpstr>
      <vt:lpstr>PowerPoint Presentation</vt:lpstr>
      <vt:lpstr>PowerPoint Presentation</vt:lpstr>
      <vt:lpstr>PowerPoint Presentation</vt:lpstr>
      <vt:lpstr>PowerPoint Presentation</vt:lpstr>
      <vt:lpstr>Point of Contact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yelisetty sandeep</dc:creator>
  <cp:lastModifiedBy>yelisetty sandeep</cp:lastModifiedBy>
  <cp:revision>9</cp:revision>
  <dcterms:created xsi:type="dcterms:W3CDTF">2026-01-19T18:39:54Z</dcterms:created>
  <dcterms:modified xsi:type="dcterms:W3CDTF">2026-01-20T04:56:49Z</dcterms:modified>
</cp:coreProperties>
</file>